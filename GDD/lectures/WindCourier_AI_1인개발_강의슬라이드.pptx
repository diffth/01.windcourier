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1부 도입" id="{D50248A8-5E44-AE7D-4A4D-0327A3A950B5}">
          <p14:sldIdLst>
            <p14:sldId id="256"/>
            <p14:sldId id="257"/>
            <p14:sldId id="258"/>
            <p14:sldId id="259"/>
            <p14:sldId id="260"/>
          </p14:sldIdLst>
        </p14:section>
        <p14:section name="2부 컨셉 설계" id="{6EAAA161-59FF-5F7E-94E8-199995156C98}">
          <p14:sldIdLst>
            <p14:sldId id="261"/>
            <p14:sldId id="262"/>
            <p14:sldId id="263"/>
            <p14:sldId id="264"/>
            <p14:sldId id="265"/>
          </p14:sldIdLst>
        </p14:section>
        <p14:section name="3부 프로토타입" id="{7B340075-394D-565A-C70F-CF0424E8619E}">
          <p14:sldIdLst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4부 아트·사운드" id="{9F3858B1-DF6A-D398-709C-A4E4369257CA}">
          <p14:sldIdLst>
            <p14:sldId id="273"/>
            <p14:sldId id="274"/>
            <p14:sldId id="275"/>
            <p14:sldId id="276"/>
          </p14:sldIdLst>
        </p14:section>
        <p14:section name="5부 완성과 검증" id="{05489930-5A7D-D735-A5BE-FAFBD89BCAA0}">
          <p14:sldIdLst>
            <p14:sldId id="277"/>
            <p14:sldId id="278"/>
            <p14:sldId id="279"/>
            <p14:sldId id="280"/>
            <p14:sldId id="281"/>
          </p14:sldIdLst>
        </p14:section>
        <p14:section name="6부 Steam 런칭" id="{A865BEBF-D17B-7D2D-0E8E-76E8D942CABF}">
          <p14:sldIdLst>
            <p14:sldId id="282"/>
            <p14:sldId id="283"/>
            <p14:sldId id="284"/>
            <p14:sldId id="285"/>
            <p14:sldId id="286"/>
          </p14:sldIdLst>
        </p14:section>
        <p14:section name="마무리" id="{DD4EB621-6084-B1C6-0E4B-015B6141A7BD}">
          <p14:sldIdLst>
            <p14:sldId id="287"/>
            <p14:sldId id="28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2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15935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오프닝. 플레이 영상 2분을 먼저 튼다. "오늘 보여드릴 사례의 대부분은 AI가 무언가를 잘 만든 이야기가 아닙니다. 만든 것을 제가 날아 보고, 무엇이 문제인지 같이 찾고, 무엇을 버릴지 정한 이야기입니다."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흐름 안내 1분. 6부는 마지막 장이지만 실제 상점 준비는 개발과 병행한다는 점을 미리 말해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영상 자리에는 현재 빌드의 실제 플레이 영상을 넣는다. 현재 베타 단계(0.9.1 기록)이고 Steam 출시 전이라는 점을 여기서 밝힌다.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AI가 줄여 주는 것은 만드는 시간, 줄여 주지 못하는 것은 고르는 시간. 크레딧 화면에도 같은 구성이 적혀 있다: Unreal Engine 5, Blender, Claude(코드·합성한 음악과 소리·번역), 생성형 AI 3D·이미지 도구.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세 가지가 뒤의 모든 사례에서 반복된다. 재미와 이해는 자동 검사로 확인되지 않으므로 직접 플레이가 따로 필요하다.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컨셉 단계에서 AI에게 시킬 일은 확장이 아니라 축소를 돕는 것. 아이디어 하나를 채택할 때마다 모델, 화면, 코드, 테스트가 함께 늘어난다.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정서 한 문장만으로는 아무것도 만들 수 없다. 플레이어의 행동으로 내려야 만들 대상이 나온다.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1시간 30분은 설계 목표이지 모든 플레이어의 완료 시간이 아니다. 하루의 크기는 2026-09-20에 직접 날아 본 뒤 결정했다.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교훈: 어려움의 원인은 수치가 아니라 규칙의 개수였다(2026-09-23). AI는 문제마다 새 장치를 제안하기 쉽다. "링은 다시 제안하지 않는다" 같은 결정도 문서에 적어야 다음 대화에서 되풀이되지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Wind Courier의 선택은 비행·기류·투하. 반복할 핵심 행동이 되는지부터 확인하고, 기체 3대와 전체 이야기, 마을은 뒤로 미뤘다. 이 답을 들고 3부로 넘어간다.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구간이 강의의 중심이다. 세 사례 모두 실제 측정 기록의 수치를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지형과 기체는 임시여도 이 흐름은 직접 조종할 수 있어야 한다. 게임이 비행마다 CSV 기록을 남기게 한 것이 이후 모든 분석의 바탕이 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수정은 경로를 가로지르는 산맥. 지루함은 줄었지만 보급 지점은 "연료가 충분할 것 같아서" 건너뛰었다. 표시가 문제가 아니었다는 뜻이다.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"지루하다"는 감상을 AI가 기록에서 구조적 원인으로 바꿔 주었다. 연료는 두 번의 상승에서만 줄었다. 해결책을 고른 것은 개발자다. 활공은 그대로 두었고, 보급 착륙의 이유는 "연료가 부족할 것 같아서"였다.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출력 키를 누른 이유는 "최대한 빨리 가기 위해서"였는데 측정값은 반대였다. 수치는 건드리지 않고 표시만 바꿨다. 비행 모델은 한 줄도 바뀌지 않았다.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노선을 고르는 키 입력이 카드를 닫아 버리는 구조였다. 한 번 뜨는 배너가 읽히지 않는 일은 같은 날 네 번 반복됐고, 그 뒤로 규칙이 됐다.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이어서 시연(녹화본 권장): 조건 밖 투하 → 편지 보존 → 재접근 → 정상 투하. 그다음 자동 테스트 결과와 자동 경로 기준 시간을 보여준다. 비행 규칙을 바꾸지 않은 작업에서 그 숫자가 변하면 무언가 깨진 것이다. 프롬프트는 강의용으로 재구성한 예시다.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에셋은 생성하는 시간보다 고르고, 엔진에 넣고, 게임 화면에서 다시 확인하는 시간이 더 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모델 이미지 한 장이 좋아 보여도 프로펠러 회전, 조종면, 시야, 성능은 게임 안에서 확인해야 한다. 면 수가 많아 무거울 것 같았지만 병목은 모델이 아니었다.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바람 영상을 같은 구간에서 비교해 보여준다. 접촉음 세 가지를 들려준다. 코드 합성의 장점은 "더 길고 낮게" 같은 수정 요청이 파일 하나의 변경으로 끝난다는 것. 일부 소리는 외부 소리로 교체 중이고 목록을 따로 관리한다.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휴식 중 다음 시연(세이브 복구 화면, 출시 준비표)을 준비한다.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여기서 AI의 완료 보고와 실제 완료의 차이가 가장 크게 드러난다.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단계의 기준을 AI와 공유해 두면 "지금은 기능을 늘릴 때가 아니다"를 매번 설명하지 않아도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AI에게 "출시에 필요한데 아직 없는 것"을 목록으로 만들게 했다. 항목마다 완료 기준이 한 줄씩 붙어 있다. 예: "설정을 바꾸고 껐다 켜도 유지된다." 구현과 자동 확인은 사흘(09-28~30) 만에 대부분 끝났고, 처음부터 엔딩까지 해 보는 일은 별도의 사람 확인 목록으로 남았다.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사례 1: 에디터는 셰이더를 그 자리에서 만들어서 문제가 드러나지 않았다. 사례 2: 자동 테스트 여섯 경우를 더하고, 실제 세이브를 반으로 잘라 복구 안내를 화면으로 확인했다. 사례 3: 첫 수정(지면 고도 기준)은 180 m 탑 위에서, 두 번째(이동 여부)는 지면을 미끄러질 때 다시 깨졌다. 틀린 것을 알려 준 것은 직접 플레이와 그때 남은 기록이다.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답: 셋 다 추가 확인이 필요하다. 패드는 버튼 배치가 끝났어도 실제 패드로 엔딩까지 가는 확인이 남아 있고, 최소 사양은 저사양 GPU 측정이 없어 정하지 못했다.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판매 수치나 성공 사례로 말하지 않는다. 강의일에 출시가 끝났다면 이 구간을 실제 제출·검수 기록으로 교체한다.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대기 기간은 과거에 30일로 안내된 적이 있으니 반드시 재확인한다. 프로젝트 로드맵은 상점 페이지를 출시 4~6개월 전에 열어 위시리스트를 모으고 Steam과 Epic Games Store에 동시 출시하는 것으로 잡혀 있다. 상점 준비는 개발과 병행한다.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소개문은 행동부터 쓴다: "작은 복엽기로 바람을 읽고, 마을에 우편을 투하하고, 중요한 편지는 직접 전한다." 리브와 아버지의 우편 가방은 그다음이다.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약관 확인과 크레딧에 적을 도구 이름은 아직 닫히지 않은 항목이다. 미완 항목을 그대로 보여주는 편이 완성된 표보다 설득력이 있다. Steam Content Survey 문서는 강의 전에 다시 확인한다.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출시용 인증 정보는 공개 시연에 노출하지 않는다. 고객에게 나가는 문구와 약속은 개발자가 직접 검토한다. Mac 배포는 코드 서명과 공증이 없으면 다른 Mac에서 열리지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정리 2분. 각 항목에 오늘의 사례를 하나씩 다시 연결한다: 범위 축소, 투하 요청, 연료 사례, 링 제거.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예상 질문. 코딩을 몰라도 되는가: 실행, 오류 재현, 변경 확인, 되돌리기는 익혀야 한다. 얼마나 빨라지는가: 비교 기록이 없어 배수로 답하지 않는다. 출시 준비 17개 항목의 1차 구현이 사흘에 끝났고 사람 확인이 그 뒤에 남았다는 기록을 보여준다. AI가 끝났다고 하면 믿어도 되는가: 완료 조건과 증거를 본다. 모든 에셋을 AI로 만드는가: 아니다. 생성 모델, 구매 에셋, 코드 합성을 일관성과 수정 가능성, 출처 기준으로 섞는다. 비용: 결제 기록을 정리한 뒤에만 숫자로 답한다.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812902"/>
            <a:ext cx="10566806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737360"/>
            <a:ext cx="10566806" cy="228600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6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marL="0" indent="0" algn="l">
              <a:buNone/>
            </a:pPr>
            <a:endParaRPr lang="en-US" sz="6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">
    <p:bg>
      <p:bgPr>
        <a:solidFill>
          <a:srgbClr val="1F2A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2103120"/>
            <a:ext cx="10566806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accent2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606040"/>
            <a:ext cx="10566806" cy="219456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25000"/>
              </a:lnSpc>
              <a:buNone/>
              <a:def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CCENT">
    <p:bg>
      <p:bgPr>
        <a:solidFill>
          <a:srgbClr val="B840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1828800"/>
            <a:ext cx="10566806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200" dirty="0">
                <a:solidFill>
                  <a:schemeClr val="bg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331720"/>
            <a:ext cx="10566806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lnSpc>
                <a:spcPct val="125000"/>
              </a:lnSpc>
              <a:buNone/>
              <a:def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marL="0" indent="0" algn="l">
              <a:lnSpc>
                <a:spcPct val="125000"/>
              </a:lnSpc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4EFE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>
              <a:buNone/>
              <a:defRPr lang="en-US" sz="1200" b="1" kern="0" spc="100" dirty="0">
                <a:solidFill>
                  <a:schemeClr val="accent1"/>
                </a:solidFill>
              </a:defRPr>
            </a:lvl1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l">
              <a:buNone/>
              <a:def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defRPr>
            </a:lvl1pPr>
          </a:lstStyle>
          <a:p>
            <a:pPr marL="0" indent="0" algn="l">
              <a:buNone/>
            </a:pPr>
            <a:endParaRPr lang="en-US" sz="3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812902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WIND COURIER 개</a:t>
            </a:r>
            <a:r>
              <a:rPr lang="ko-KR" altLang="en-US" sz="1200" b="1" kern="0" spc="200" dirty="0">
                <a:solidFill>
                  <a:schemeClr val="accent2"/>
                </a:solidFill>
              </a:rPr>
              <a:t>발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737360"/>
            <a:ext cx="10566806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1인 </a:t>
            </a:r>
            <a:r>
              <a:rPr lang="en-US" sz="6000" b="1" dirty="0" err="1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개발자의</a:t>
            </a:r>
            <a:r>
              <a:rPr lang="en-US" sz="60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AI 활용</a:t>
            </a:r>
            <a:endParaRPr lang="en-US" sz="60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429768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2200" dirty="0">
                <a:solidFill>
                  <a:schemeClr val="accent5"/>
                </a:solidFill>
              </a:rPr>
              <a:t>컨셉 설계부터 Steam </a:t>
            </a:r>
            <a:r>
              <a:rPr lang="en-US" sz="2200" dirty="0" err="1">
                <a:solidFill>
                  <a:schemeClr val="accent5"/>
                </a:solidFill>
              </a:rPr>
              <a:t>런칭까지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5760720"/>
            <a:ext cx="1056680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chemeClr val="accent5"/>
                </a:solidFill>
              </a:rPr>
              <a:t>ozs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오늘의 흐름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 err="1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여섯</a:t>
            </a: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 구간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03120"/>
          <a:ext cx="10566806" cy="3374136"/>
        </p:xfrm>
        <a:graphic>
          <a:graphicData uri="http://schemas.openxmlformats.org/drawingml/2006/table">
            <a:tbl>
              <a:tblPr/>
              <a:tblGrid>
                <a:gridCol w="19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구간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보여줄 것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00:00 · 10분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1부 도입: 혼자 만든다는 것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플레이 영상, 역할 분담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00:10 · 15분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2부 컨셉 설계와 기획 문서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범위를 줄인 기록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00:25 · 25분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3부 프로토타입: 만들고, 날고, 고친다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연료·기류 사례의 수치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00:50 · 15분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4부 아트·사운드·에셋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모델 교체, 바람 표현 전후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01:05 · 5분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휴식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01:10 · 20분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5부 완성과 검증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출시 준비표, 세이브·빌드 사례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01:30 · 20분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6부 Steam 런칭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절차, AI 고지, 출시 후 대응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01:50 · 10분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마무리와 질의응답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네 가지 작업 방식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1부 · 도입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지금의 Wind Courier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4828032" cy="2715768"/>
          </a:xfrm>
          <a:prstGeom prst="roundRect">
            <a:avLst>
              <a:gd name="adj" fmla="val 3704"/>
            </a:avLst>
          </a:prstGeom>
          <a:solidFill>
            <a:schemeClr val="tx1"/>
          </a:solidFill>
          <a:ln/>
        </p:spPr>
        <p:txBody>
          <a:bodyPr wrap="square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[플레이 영상 2분]</a:t>
            </a:r>
            <a:endParaRPr lang="en-US" sz="1600" dirty="0"/>
          </a:p>
          <a:p>
            <a:pPr marL="0" indent="0" algn="ctr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5"/>
                </a:solidFill>
              </a:rPr>
              <a:t>이륙 · 상승기류 · 투하 · 착륙 전달 · 편지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035040" y="2286000"/>
            <a:ext cx="5340096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1920년대 유럽풍 가상 지역의 저속 비행 어드벤처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열여섯 살 우편 비행사 리브와 아버지의 미배달 우편 가방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Unreal Engine 5 · PC/Steam 목표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메인 이야기 목표 약 1시간 30분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521208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"오늘의 바람을 보고, 어떤 길로 갈 것인가?"</a:t>
            </a:r>
            <a:endParaRPr lang="en-US" sz="2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1부 · 도입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AI가 한 것, 내가 한 것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03120"/>
          <a:ext cx="10566807" cy="2624328"/>
        </p:xfrm>
        <a:graphic>
          <a:graphicData uri="http://schemas.openxmlformats.org/drawingml/2006/table">
            <a:tbl>
              <a:tblPr/>
              <a:tblGrid>
                <a:gridCol w="169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380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380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일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개발자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기획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문서 정리, 선택지와 비용 제시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방향 결정, 범위 자르기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구현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C++ 코드, 자동 테스트, 빌드 스크립트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요청 범위 지정, 직접 플레이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분석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비행 기록(CSV)으로 원인 좁히기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해결책 선택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아트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3D 모델 생성, 엔진 배치 보조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형태 선택, 화면에서 채택 판단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소리·글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효과음·음악 합성, 번역 초안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듣고 읽어 보고 교체 요청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출시 준비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누락 목록, 메뉴·설정·세이브 구현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사람 확인 플레이, 제출 판단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1부 · 도입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오늘 반복할 세 가지 원칙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3386938" cy="2103120"/>
          </a:xfrm>
          <a:prstGeom prst="roundRect">
            <a:avLst>
              <a:gd name="adj" fmla="val 4783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완료 조건을 붙인다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요청마다 확인할 수 있는 끝을 정한다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4402836" y="2103120"/>
            <a:ext cx="3386938" cy="2103120"/>
          </a:xfrm>
          <a:prstGeom prst="roundRect">
            <a:avLst>
              <a:gd name="adj" fmla="val 4783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증거로 확인한다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테스트·기록·화면, 그리고 직접 플레이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7992770" y="2103120"/>
            <a:ext cx="3386938" cy="2103120"/>
          </a:xfrm>
          <a:prstGeom prst="roundRect">
            <a:avLst>
              <a:gd name="adj" fmla="val 4783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결정을 남긴다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이유와 함께 파일에.</a:t>
            </a:r>
            <a:endParaRPr lang="en-US" sz="3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다음 작업의 입력이 된다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21031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2부 · 컨셉 설계와 기획 문서 · 15분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606040"/>
            <a:ext cx="1056680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아이디어를 늘리지 않는다.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혼자 끝낼 수 있는 크기로 자른다.</a:t>
            </a:r>
            <a:endParaRPr lang="en-US" sz="3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2부 · 컨셉 설계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감정을 행동으로 내린다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chemeClr val="tx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"상실을 안고 있지만, 하늘은 여전히 아름답다"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788920"/>
          <a:ext cx="10566805" cy="1874520"/>
        </p:xfrm>
        <a:graphic>
          <a:graphicData uri="http://schemas.openxmlformats.org/drawingml/2006/table">
            <a:tbl>
              <a:tblPr/>
              <a:tblGrid>
                <a:gridCol w="2324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1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컨셉의 요소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플레이어가 하는 일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만들 대상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바람을 읽는다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기류를 찾아 들어가 고도를 얻는다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기류 규칙, 새·구름·소리 단서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편지를 전한다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낮게 접근해 투하하거나 착륙한다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투하 조건, 착륙 구역, 수취인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사람과 연결된다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편지와 답장을 읽는다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편지, 짧은 대사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하루를 산다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노선을 고르고 날고 돌아와 쉰다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아침 카운터, 귀환, 저녁, 저장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2부 · 컨셉 설계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범위를 줄인 기록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3386938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처음의 장편안 · 채택하지 않음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strike="sngStrike" dirty="0">
                <a:solidFill>
                  <a:schemeClr val="tx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12시간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402836" y="2103120"/>
            <a:ext cx="3386938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짧고 완결된 게임으로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strike="sngStrike" dirty="0">
                <a:solidFill>
                  <a:schemeClr val="tx2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2~3시간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92770" y="2103120"/>
            <a:ext cx="3386938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2026-09-25 목표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1시간 30분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393192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하루의 크기는 측정으로 정했다: 투하 2회 + 착륙 배달 1회 + 귀환, 비행 6분 17초~6분 48초.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배달 횟수를 늘리는 대신 저녁·아침 장면과 편지 읽기로 밀도를 채운다.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2부 · 컨셉 설계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수치가 좋아져도 버린 기능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유도 링을 넣자, 하루 비행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6:48 → 6:08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97803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투하 접근 시간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37.7초 → 6.8초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931920"/>
            <a:ext cx="1056680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그래도 링은 제거했다. 링을 따라가는 게임은 바람을 읽는 게임이 아니다.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452628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대신 경로 옆에 바위와 탑을 세워 같은 접근 시간(7.0초)을 얻었다.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청중 활동 · 3분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첫 프로토타입에 무엇을 넣을까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여섯 개 중 세 개만 고른다면?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697480"/>
            <a:ext cx="3386938" cy="100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비행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4402836" y="2697480"/>
            <a:ext cx="3386938" cy="100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기류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7992770" y="2697480"/>
            <a:ext cx="3386938" cy="100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우편 투하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812902" y="3906317"/>
            <a:ext cx="3386938" cy="100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기체 3대</a:t>
            </a:r>
            <a:endParaRPr lang="en-US" sz="2200" dirty="0"/>
          </a:p>
        </p:txBody>
      </p:sp>
      <p:sp>
        <p:nvSpPr>
          <p:cNvPr id="10" name="Text 7"/>
          <p:cNvSpPr txBox="1"/>
          <p:nvPr/>
        </p:nvSpPr>
        <p:spPr>
          <a:xfrm>
            <a:off x="4402836" y="3906317"/>
            <a:ext cx="3386938" cy="100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전체 이야기</a:t>
            </a:r>
            <a:endParaRPr lang="en-US" sz="2200" dirty="0"/>
          </a:p>
        </p:txBody>
      </p:sp>
      <p:sp>
        <p:nvSpPr>
          <p:cNvPr id="11" name="Text 8"/>
          <p:cNvSpPr txBox="1"/>
          <p:nvPr/>
        </p:nvSpPr>
        <p:spPr>
          <a:xfrm>
            <a:off x="7992770" y="3906317"/>
            <a:ext cx="3386938" cy="100584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ctr"/>
          <a:lstStyle/>
          <a:p>
            <a:pPr marL="0" indent="0" algn="ctr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정교한 마을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21031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3부 · 프로토타입 · 25분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606040"/>
            <a:ext cx="1056680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AI의 가장 큰 쓸모는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코드 작성이 아니었다.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플레이 기록에서 원인을 찾는 일이었다.</a:t>
            </a:r>
            <a:endParaRPr lang="en-US" sz="3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3부 · 프로토타입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한 바퀴의 모양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첫 구현 목표: 기류 탐색 → 상승 → 활공 → 저공 투하 → 고도 회복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697480"/>
            <a:ext cx="1991197" cy="1737360"/>
          </a:xfrm>
          <a:prstGeom prst="roundRect">
            <a:avLst>
              <a:gd name="adj" fmla="val 5789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요청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작은 변경과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완료 조건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956804" y="2697480"/>
            <a:ext cx="1991197" cy="1737360"/>
          </a:xfrm>
          <a:prstGeom prst="roundRect">
            <a:avLst>
              <a:gd name="adj" fmla="val 5789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구현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AI가 빌드와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자동 테스트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100706" y="2697480"/>
            <a:ext cx="1991197" cy="1737360"/>
          </a:xfrm>
          <a:prstGeom prst="roundRect">
            <a:avLst>
              <a:gd name="adj" fmla="val 5789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플레이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직접 날고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기록 남기기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244608" y="2697480"/>
            <a:ext cx="1991197" cy="1737360"/>
          </a:xfrm>
          <a:prstGeom prst="roundRect">
            <a:avLst>
              <a:gd name="adj" fmla="val 5789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분석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AI가 기록을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구간별로 읽기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388511" y="2697480"/>
            <a:ext cx="1991197" cy="1737360"/>
          </a:xfrm>
          <a:prstGeom prst="roundRect">
            <a:avLst>
              <a:gd name="adj" fmla="val 5789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05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결정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내가 고르고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문서에 적기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3부 · 사례 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장거리 노선이 지루했다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12 km 왕복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14분 48초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97803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활공으로 보낸 시간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887초 중 708초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93192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"지루했고... 가는 동안 변화가 좀 필요할 꺼 같아"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457200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산맥을 넣자 나아졌지만 보급 지점은 여전히 지나쳤다. 연료가 34.4% 남았으니 옳은 판단이었다.</a:t>
            </a:r>
            <a:endParaRPr lang="en-US" sz="16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3부 · 사례 A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원인은 거리가 아니라 고도의 가격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1056680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연료 1% = 고도 15 m = 활공 145 m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88036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970 m까지 한 번 오르면 9.4 km를 공짜로 간다. 거리와 지형으로는 고칠 수 없는 구조였다.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520440"/>
            <a:ext cx="3386938" cy="1234440"/>
          </a:xfrm>
          <a:prstGeom prst="roundRect">
            <a:avLst>
              <a:gd name="adj" fmla="val 8148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선택한 해결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300 m 위에서 엔진 상승률이 떨어진다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402836" y="3520440"/>
            <a:ext cx="3386938" cy="1234440"/>
          </a:xfrm>
          <a:prstGeom prst="roundRect">
            <a:avLst>
              <a:gd name="adj" fmla="val 8148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결과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이륙 상승 연료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32.5% → 11.9%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992770" y="3520440"/>
            <a:ext cx="3386938" cy="1234440"/>
          </a:xfrm>
          <a:prstGeom prst="roundRect">
            <a:avLst>
              <a:gd name="adj" fmla="val 8148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행동의 변화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처음으로 보급 지점에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1"/>
                </a:solidFill>
              </a:rPr>
              <a:t>착륙했다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3부 · 사례 B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게임은 그대로, 화면만 고쳤다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3386938" cy="182880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기류 안에서 출력 키를 누른 시간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strike="sngStrike" dirty="0">
                <a:solidFill>
                  <a:schemeClr val="tx2"/>
                </a:solidFill>
              </a:rPr>
              <a:t>85%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11%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402836" y="2103120"/>
            <a:ext cx="3386938" cy="182880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왕복 연료 소모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strike="sngStrike" dirty="0">
                <a:solidFill>
                  <a:schemeClr val="tx2"/>
                </a:solidFill>
              </a:rPr>
              <a:t>114%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78.7%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7992770" y="2103120"/>
            <a:ext cx="3386938" cy="1828800"/>
          </a:xfrm>
          <a:prstGeom prst="roundRect">
            <a:avLst>
              <a:gd name="adj" fmla="val 55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왕복 시간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dirty="0">
                <a:solidFill>
                  <a:schemeClr val="tx2"/>
                </a:solidFill>
              </a:rPr>
              <a:t>더 빨라졌다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−19초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425196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활공이 29.7 m/s로 가장 빠르고 공짜라는 사실을 화면이 말해 주지 않았다. 엔진 상태 옆에 속도와 소모율을 두고, 기류 안내를 계속 보이게 했다.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3부 · 사례 C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잠깐 뜨는 안내는 읽히지 않는다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노선 카드를 띄워 두려던 시간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25초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6197803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실제로 닫힌 시간 (다섯 번 모두)</a:t>
            </a:r>
            <a:endParaRPr lang="en-US" sz="16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2.5~6.3초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93192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행동해야 하는 정보는 지속되는 월드 표시로 만든다.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4572000"/>
            <a:ext cx="1056680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문구를 세 번 고쳐도 소용없던 이유다. 계속 떠 있는 보급 표시는 매번 읽혔다.</a:t>
            </a:r>
            <a:endParaRPr lang="en-US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3부 · 요청 작성법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요청에는 완료 조건을 붙인다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10566806" cy="3291840"/>
          </a:xfrm>
          <a:prstGeom prst="roundRect">
            <a:avLst>
              <a:gd name="adj" fmla="val 3056"/>
            </a:avLst>
          </a:prstGeom>
          <a:solidFill>
            <a:schemeClr val="tx1"/>
          </a:solidFill>
          <a:ln/>
        </p:spPr>
        <p:txBody>
          <a:bodyPr wrap="square" lIns="304800" tIns="304800" rIns="304800" bIns="304800" rtlCol="0" anchor="ctr"/>
          <a:lstStyle/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기존 비행·배달 코드와 </a:t>
            </a:r>
            <a:r>
              <a:rPr lang="en-US" sz="1600" dirty="0">
                <a:solidFill>
                  <a:schemeClr val="accent2"/>
                </a:solidFill>
              </a:rPr>
              <a:t>관련 기획 문서를 먼저 읽어 줘.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조건 밖에서 투하하면 편지를 보존하고, 조건 안에서는 </a:t>
            </a:r>
            <a:r>
              <a:rPr lang="en-US" sz="1600" dirty="0">
                <a:solidFill>
                  <a:schemeClr val="accent2"/>
                </a:solidFill>
              </a:rPr>
              <a:t>한 번만</a:t>
            </a:r>
            <a:r>
              <a:rPr lang="en-US" sz="1600" dirty="0">
                <a:solidFill>
                  <a:schemeClr val="bg1"/>
                </a:solidFill>
              </a:rPr>
              <a:t> 배달 완료로 처리해 줘.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완료 직후 다시 입력해도 </a:t>
            </a:r>
            <a:r>
              <a:rPr lang="en-US" sz="1600" dirty="0">
                <a:solidFill>
                  <a:schemeClr val="accent2"/>
                </a:solidFill>
              </a:rPr>
              <a:t>중복 처리되지 않아야 한다.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빌드와 자동 검사를 실행하고, 바꾼 행동과 </a:t>
            </a:r>
            <a:r>
              <a:rPr lang="en-US" sz="1600" dirty="0">
                <a:solidFill>
                  <a:schemeClr val="accent2"/>
                </a:solidFill>
              </a:rPr>
              <a:t>내가 직접 플레이할 항목</a:t>
            </a:r>
            <a:r>
              <a:rPr lang="en-US" sz="1600" dirty="0">
                <a:solidFill>
                  <a:schemeClr val="bg1"/>
                </a:solidFill>
              </a:rPr>
              <a:t>을 알려 줘.</a:t>
            </a:r>
            <a:endParaRPr lang="en-US" sz="1600" dirty="0"/>
          </a:p>
          <a:p>
            <a:pPr marL="0" indent="0">
              <a:spcAft>
                <a:spcPts val="1200"/>
              </a:spcAft>
              <a:buNone/>
            </a:pPr>
            <a:r>
              <a:rPr lang="en-US" sz="1600" dirty="0">
                <a:solidFill>
                  <a:schemeClr val="bg1"/>
                </a:solidFill>
              </a:rPr>
              <a:t>기획에 없는 수치는 정하지 말고 </a:t>
            </a:r>
            <a:r>
              <a:rPr lang="en-US" sz="1600" dirty="0">
                <a:solidFill>
                  <a:schemeClr val="accent2"/>
                </a:solidFill>
              </a:rPr>
              <a:t>가정으로 표시해 줘.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21031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4부 · 아트·사운드·에셋 · 15분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606040"/>
            <a:ext cx="1056680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생성은 금방 끝난다.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고르고, 넣고, 다시 보는 일이 남는다.</a:t>
            </a:r>
            <a:endParaRPr lang="en-US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4부 · 모델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생성 뒤에 남는 일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5120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tx2"/>
                </a:solidFill>
              </a:rPr>
              <a:t>기체 세 대와 인물, 새를 Meshy 모델로 교체했다.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2926080"/>
            <a:ext cx="512064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후보 중 형태를 고른다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크기·축·피벗을 맞춘다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재질·충돌·가동부를 확인한다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엔진에 넣고 게임 카메라로 본다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0" y="2103120"/>
            <a:ext cx="4978908" cy="2468880"/>
          </a:xfrm>
          <a:prstGeom prst="roundRect">
            <a:avLst>
              <a:gd name="adj" fmla="val 4074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추측하지 않고 잰다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0.5 ms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M1 Pro에서 11만~15만 면 모델을 그리는 비용. 프레임 21.5 ms 중 안티에일리어싱이 7.7 ms, Lumen이 5.1 ms였다.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4부 · 바람과 소리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채택 기준은 "읽히는가"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5181905" cy="2103120"/>
          </a:xfrm>
          <a:prstGeom prst="roundRect">
            <a:avLst>
              <a:gd name="adj" fmla="val 4783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바람 표현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붓 줄기 → 날리는 눈발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"세게 불어오는 바람 같지가 않아"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예쁜가보다, 방향과 세기가 읽히는가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97803" y="2103120"/>
            <a:ext cx="5181905" cy="2103120"/>
          </a:xfrm>
          <a:prstGeom prst="roundRect">
            <a:avLst>
              <a:gd name="adj" fmla="val 4783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소리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코드로 합성하고, 귀로 고른다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접촉음을 셋으로: 바퀴 스침, 기체 긁힘, 정면 충돌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바람에 묻히자, 접촉 순간 배경음을 70% 줄였다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01:05 – 01:10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휴식 5분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dirty="0">
                <a:solidFill>
                  <a:schemeClr val="tx2"/>
                </a:solidFill>
              </a:rPr>
              <a:t>다음: 완성과 검증, 그리고 Steam</a:t>
            </a:r>
            <a:endParaRPr lang="en-US" sz="2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21031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5부 · 완성과 검증 · 20분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606040"/>
            <a:ext cx="1056680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AI의 "끝났다"와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실제 완료 사이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489204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제품으로 만드는 일의 대부분은 비행이 아니라 메뉴, 저장, 설정, 빌드다.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5부 · 완성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단계마다 끝내는 일이 다르다</a:t>
            </a:r>
            <a:endParaRPr lang="en-US" sz="3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03120"/>
          <a:ext cx="10566806" cy="914400"/>
        </p:xfrm>
        <a:graphic>
          <a:graphicData uri="http://schemas.openxmlformats.org/drawingml/2006/table">
            <a:tbl>
              <a:tblPr/>
              <a:tblGrid>
                <a:gridCol w="1902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870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06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단계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완료 기준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Wind Courier에서의 질문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프로토타입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재미 검증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바람을 읽으며 배달하는 일을 계속하고 싶은가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알파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기능 완료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처음부터 엔딩까지 한 바퀴 돌 수 있는가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베타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콘텐츠 완료, 기능 동결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새 규칙 없이 다듬기만 하고 있는가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출시 후보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치명적 버그 없음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 빌드를 그대로 팔아도 되는가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릴리스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검수 통과, 판매 시작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상점에 적은 것과 빌드가 일치하는가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4709160"/>
            <a:ext cx="10566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목표: 베타에서 완성도를 끝까지 올려, 릴리스는 Shipping 빌드만 하면 되는 상태.</a:t>
            </a:r>
            <a:endParaRPr lang="en-US" sz="16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5부 · 출시 준비표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없는 것부터 적는다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3108960" cy="2377440"/>
          </a:xfrm>
          <a:prstGeom prst="roundRect">
            <a:avLst>
              <a:gd name="adj" fmla="val 4231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2026-09-28의 목록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54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17개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필수 10 + 완성도 7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4343400" y="2377440"/>
            <a:ext cx="7031736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게임 안에서 끄는 방법이 없었다 (Alt+F4뿐)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프로젝트 이름이 "Third Person Game Template"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타이틀, 설정, 크레딧, 저장 실패 대비 없음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카운터와 메뉴는 키보드로만 조작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4892040"/>
            <a:ext cx="10566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22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사흘 뒤 대부분의 항목: "1차 끝. 사람 확인은 남았다."</a:t>
            </a:r>
            <a:endParaRPr lang="en-US" sz="22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5부 · 검증 사례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직접 돌려 봐야 보이는 것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3386938" cy="2286000"/>
          </a:xfrm>
          <a:prstGeom prst="roundRect">
            <a:avLst>
              <a:gd name="adj" fmla="val 44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에디터에선 안 보인다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M1 맥의 첫 Shipping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패키지가 실행되지 않았다.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템플릿의 기본 셰이더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설정 때문이었다.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402836" y="2103120"/>
            <a:ext cx="3386938" cy="2286000"/>
          </a:xfrm>
          <a:prstGeom prst="roundRect">
            <a:avLst>
              <a:gd name="adj" fmla="val 44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깨진 줄 모르는 세이브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저장 중 꺼지면 엔진이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반쯤 기본값으로 읽는다.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임시 파일, 백업, 교체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순서와 CRC로 바꿨다.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992770" y="2103120"/>
            <a:ext cx="3386938" cy="2286000"/>
          </a:xfrm>
          <a:prstGeom prst="roundRect">
            <a:avLst>
              <a:gd name="adj" fmla="val 44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세 번 만에 고친 버그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접촉음 반복.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"닿아 있는가"를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"방금 닿기 시작했는가"로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질문을 바꿨다.</a:t>
            </a:r>
            <a:endParaRPr lang="en-US" sz="2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5부 · 검증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"성공"이라는 보고의 범위</a:t>
            </a:r>
            <a:endParaRPr lang="en-US" sz="36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03120"/>
          <a:ext cx="10566806" cy="914400"/>
        </p:xfrm>
        <a:graphic>
          <a:graphicData uri="http://schemas.openxmlformats.org/drawingml/2006/table">
            <a:tbl>
              <a:tblPr/>
              <a:tblGrid>
                <a:gridCol w="23246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210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1210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확인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알 수 있는 것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따로 확인할 것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컴파일 성공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코드가 빌드된다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실제 진행, 재미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자동 테스트 통과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검사한 조건에서 규칙이 맞다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검사하지 않은 상황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자동 경로 완주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정해진 경로의 상태 전환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초보자의 길 찾기와 조작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화면 캡처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배치와 가독성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움직임, 피로, 장시간 플레이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사람 플레이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경험, 이해, 불편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다른 기기와 환경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470916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청중 활동 3분: 전체 패드 지원, 저사양에서도 실행, 상승기류가 재미있다. 자동 검사만으로 확정할 수 있는 것은?</a:t>
            </a:r>
            <a:endParaRPr lang="en-US" sz="16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210312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accent2"/>
                </a:solidFill>
              </a:rPr>
              <a:t>6부 · Steam 런칭 · 20분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606040"/>
            <a:ext cx="10566806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출시는 하루의 일이 아니다.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약속과 빌드를 맞춰 가는 몇 주다.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489204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chemeClr val="accent5"/>
                </a:solidFill>
              </a:rPr>
              <a:t>Wind Courier는 아직 출시 전이다. 준비해 둔 절차와 계획으로 설명한다.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6부 · 절차와 일정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여섯 단계와 기다리는 시간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6583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Steamworks 등록: 신원, 은행, 세금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앱 등록비 결제, 상점 자료 준비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상점 페이지 검토 후 Coming Soon 공개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Depot 구성, 빌드 업로드, 설치 확인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출시 후보 빌드 검토 제출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/>
            </a:pPr>
            <a:r>
              <a:rPr lang="en-US" sz="1600" dirty="0">
                <a:solidFill>
                  <a:schemeClr val="tx1"/>
                </a:solidFill>
              </a:rPr>
              <a:t>승인과 대기 조건을 채운 뒤 출시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812902" y="525780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chemeClr val="tx2"/>
                </a:solidFill>
              </a:rPr>
              <a:t>기간은 2026-10-03 열람 기록. 강의 직전 Steamworks 공식 문서로 다시 확인.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074152" y="2103120"/>
            <a:ext cx="3305556" cy="1143000"/>
          </a:xfrm>
          <a:prstGeom prst="roundRect">
            <a:avLst>
              <a:gd name="adj" fmla="val 88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127000" tIns="254000" rIns="254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100 USD</a:t>
            </a:r>
            <a:endParaRPr lang="en-US" sz="3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앱 등록비 (앱당)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8074152" y="3398825"/>
            <a:ext cx="3305556" cy="1143000"/>
          </a:xfrm>
          <a:prstGeom prst="roundRect">
            <a:avLst>
              <a:gd name="adj" fmla="val 88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127000" tIns="254000" rIns="254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21일</a:t>
            </a:r>
            <a:endParaRPr lang="en-US" sz="3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등록비 결제 후 대기</a:t>
            </a:r>
            <a:endParaRPr lang="en-US" sz="3000" dirty="0"/>
          </a:p>
        </p:txBody>
      </p:sp>
      <p:sp>
        <p:nvSpPr>
          <p:cNvPr id="9" name="Text 6"/>
          <p:cNvSpPr txBox="1"/>
          <p:nvPr/>
        </p:nvSpPr>
        <p:spPr>
          <a:xfrm>
            <a:off x="8074152" y="4694530"/>
            <a:ext cx="3305556" cy="1143000"/>
          </a:xfrm>
          <a:prstGeom prst="roundRect">
            <a:avLst>
              <a:gd name="adj" fmla="val 8800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127000" tIns="254000" rIns="254000" bIns="127000" rtlCol="0" anchor="ctr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3000" b="1" dirty="0">
                <a:solidFill>
                  <a:schemeClr val="accent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2주</a:t>
            </a:r>
            <a:endParaRPr lang="en-US" sz="3000" dirty="0"/>
          </a:p>
          <a:p>
            <a:pPr marL="0" indent="0" algn="l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2"/>
                </a:solidFill>
              </a:rPr>
              <a:t>Coming Soon 최소 공개 기간</a:t>
            </a:r>
            <a:endParaRPr lang="en-US" sz="3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6부 · 상점 페이지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확인한 것만 적는다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3386938" cy="192024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전체 패드 지원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버튼 배치는 끝났다.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실제 패드로 엔딩까지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가는 확인이 남았다.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4402836" y="2103120"/>
            <a:ext cx="3386938" cy="192024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최소·권장 사양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RTX 4060 Ti와 M1 Pro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측정뿐이다. 저사양 GPU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측정 전에는 적을 수 없다.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7992770" y="2103120"/>
            <a:ext cx="3386938" cy="1920240"/>
          </a:xfrm>
          <a:prstGeom prst="roundRect">
            <a:avLst>
              <a:gd name="adj" fmla="val 5238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플레이 시간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1시간 30분은 설계 목표다.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모든 플레이어의</a:t>
            </a:r>
            <a:endParaRPr lang="en-US" sz="2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1600" dirty="0">
                <a:solidFill>
                  <a:schemeClr val="tx2"/>
                </a:solidFill>
              </a:rPr>
              <a:t>완료 시간이 아니다.</a:t>
            </a:r>
            <a:endParaRPr lang="en-US" sz="2200" dirty="0"/>
          </a:p>
        </p:txBody>
      </p:sp>
      <p:sp>
        <p:nvSpPr>
          <p:cNvPr id="8" name="Text 5"/>
          <p:cNvSpPr txBox="1"/>
          <p:nvPr/>
        </p:nvSpPr>
        <p:spPr>
          <a:xfrm>
            <a:off x="812902" y="434340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AI에게는 소개문 한·영 초안, 태그 후보, 촬영 목록. 개발자는 문구를 사람 확인 목록과 대조한다.</a:t>
            </a:r>
            <a:endParaRPr lang="en-US" sz="16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6부 · AI 고지와 출처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무엇에, 어떻게 썼는지 쓴다</a:t>
            </a:r>
            <a:endParaRPr lang="en-US" sz="36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03120"/>
          <a:ext cx="10566806" cy="914400"/>
        </p:xfrm>
        <a:graphic>
          <a:graphicData uri="http://schemas.openxmlformats.org/drawingml/2006/table">
            <a:tbl>
              <a:tblPr/>
              <a:tblGrid>
                <a:gridCol w="253603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5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항목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만든 방식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남은 확인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기체·인물·새 모델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 3D 도구로 사전 생성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상업 이용 약관, 크레딧 표기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음악·효과음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AI가 쓴 코드로 합성, 일부 외부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외부 소리의 출처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일부 AI 번역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한국어 전 구간 사람 확인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코드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AI 작성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설문 대상인지 문서로 확인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434340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Steam 설문은 사전 생성과 실행 중 생성을 구분한다. 이 게임에 실행 중 생성은 없다.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에셋마다 도구, 날짜, 요금제, 라이선스, 필요한 표기를 만들 때 적어 둔다.</a:t>
            </a:r>
            <a:endParaRPr lang="en-US" sz="16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6부 · 출시 당일과 이후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출시 뒤에도 같은 방식으로</a:t>
            </a:r>
            <a:endParaRPr lang="en-US" sz="36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12902" y="2103120"/>
          <a:ext cx="10566806" cy="914400"/>
        </p:xfrm>
        <a:graphic>
          <a:graphicData uri="http://schemas.openxmlformats.org/drawingml/2006/table">
            <a:tbl>
              <a:tblPr/>
              <a:tblGrid>
                <a:gridCol w="16906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607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15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시점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할 일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</a:rPr>
                        <a:t>AI의 보조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출시 전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출시 후보 보관, 새 설치·이어하기·엔딩 점검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체크리스트와 검사 결과 정리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출시 당일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구매·설치·실행 확인, 문의 경로 확인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문의 분류, 재현 정보 양식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초기 대응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실행 불가, 저장 손상, 진행 불가부터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로그 정리, 원인 후보, 회귀 확인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90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패치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이전 세이브 호환 확인 후 배포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dirty="0">
                          <a:solidFill>
                            <a:schemeClr val="tx1"/>
                          </a:solidFill>
                        </a:rPr>
                        <a:t>수정에 근거한 패치 노트 초안</a:t>
                      </a:r>
                      <a:endParaRPr lang="en-US" sz="1400" dirty="0"/>
                    </a:p>
                  </a:txBody>
                  <a:tcPr anchor="ctr">
                    <a:lnL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0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2"/>
          <p:cNvSpPr txBox="1"/>
          <p:nvPr/>
        </p:nvSpPr>
        <p:spPr>
          <a:xfrm>
            <a:off x="812902" y="434340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chemeClr val="tx2"/>
                </a:solidFill>
              </a:rPr>
              <a:t>Shipping 빌드에서 발견한 것: 개발용 옵션과 기록 끄기, 219 MB 디버그 파일 제외, 세이브 위치 변경.</a:t>
            </a:r>
            <a:endParaRPr lang="en-US" sz="16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77724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chemeClr val="accent1"/>
                </a:solidFill>
              </a:rPr>
              <a:t>마무리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1188720"/>
            <a:ext cx="1056680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600" b="1" dirty="0">
                <a:solidFill>
                  <a:schemeClr val="tx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가져갈 네 가지 작업 방식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01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경험을 한 문장으로, 행동 하나부터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97803" y="2103120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02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AI 작업에는 확인 가능한 완료 조건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812902" y="3769157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03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직접 확인하고, 기록을 같이 읽는다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97803" y="3769157"/>
            <a:ext cx="5181905" cy="1463040"/>
          </a:xfrm>
          <a:prstGeom prst="roundRect">
            <a:avLst>
              <a:gd name="adj" fmla="val 6875"/>
            </a:avLst>
          </a:prstGeom>
          <a:solidFill>
            <a:schemeClr val="bg2"/>
          </a:solidFill>
          <a:ln w="9525">
            <a:solidFill>
              <a:schemeClr val="accent4"/>
            </a:solidFill>
          </a:ln>
        </p:spPr>
        <p:txBody>
          <a:bodyPr wrap="square" lIns="254000" tIns="254000" rIns="254000" bIns="254000" rtlCol="0" anchor="t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200" b="1" dirty="0">
                <a:solidFill>
                  <a:schemeClr val="accent1"/>
                </a:solidFill>
              </a:rPr>
              <a:t>04</a:t>
            </a:r>
            <a:endParaRPr lang="en-US" sz="1200" dirty="0"/>
          </a:p>
          <a:p>
            <a:pPr marL="0" indent="0" algn="l">
              <a:spcAft>
                <a:spcPts val="600"/>
              </a:spcAft>
              <a:buNone/>
            </a:pPr>
            <a:r>
              <a:rPr lang="en-US" sz="2200" b="1" dirty="0">
                <a:solidFill>
                  <a:schemeClr val="tx1"/>
                </a:solidFill>
              </a:rPr>
              <a:t>결정과 근거를 파일에. 버린 것도</a:t>
            </a:r>
            <a:endParaRPr lang="en-US" sz="12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body" idx="100" hasCustomPrompt="1"/>
          </p:nvPr>
        </p:nvSpPr>
        <p:spPr>
          <a:xfrm>
            <a:off x="812902" y="1828800"/>
            <a:ext cx="10566806" cy="32004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chemeClr val="bg1"/>
                </a:solidFill>
              </a:rPr>
              <a:t>질의응답 · 8분</a:t>
            </a:r>
            <a:endParaRPr lang="en-US" sz="1200" dirty="0"/>
          </a:p>
        </p:txBody>
      </p:sp>
      <p:sp>
        <p:nvSpPr>
          <p:cNvPr id="3" name="Text 0"/>
          <p:cNvSpPr>
            <a:spLocks noGrp="1"/>
          </p:cNvSpPr>
          <p:nvPr>
            <p:ph type="title" idx="101" hasCustomPrompt="1"/>
          </p:nvPr>
        </p:nvSpPr>
        <p:spPr>
          <a:xfrm>
            <a:off x="812902" y="2331720"/>
            <a:ext cx="10566806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첫 작업은 게임 전체를</a:t>
            </a:r>
            <a:endParaRPr lang="en-US" sz="3600" dirty="0"/>
          </a:p>
          <a:p>
            <a:pPr marL="0" indent="0" algn="l">
              <a:lnSpc>
                <a:spcPct val="125000"/>
              </a:lnSpc>
              <a:buNone/>
            </a:pPr>
            <a:r>
              <a:rPr lang="en-US" sz="3600" b="1" dirty="0">
                <a:solidFill>
                  <a:schemeClr val="bg1"/>
                </a:solidFill>
                <a:latin typeface="Batang" pitchFamily="34" charset="0"/>
                <a:ea typeface="Batang" pitchFamily="34" charset="-122"/>
                <a:cs typeface="Batang" pitchFamily="34" charset="-120"/>
              </a:rPr>
              <a:t>요청하는 것이 아닙니다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812902" y="4114800"/>
            <a:ext cx="1056680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chemeClr val="bg1"/>
                </a:solidFill>
              </a:rPr>
              <a:t>핵심 행동 한 가지를 정하고, 그 행동이 되는지 직접 해 보는 것입니다.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ind Courier Lecture">
  <a:themeElements>
    <a:clrScheme name="Wind Courier Lecture">
      <a:dk1>
        <a:srgbClr val="1F2A37"/>
      </a:dk1>
      <a:lt1>
        <a:srgbClr val="F4EFE4"/>
      </a:lt1>
      <a:dk2>
        <a:srgbClr val="46505C"/>
      </a:dk2>
      <a:lt2>
        <a:srgbClr val="FBF8F1"/>
      </a:lt2>
      <a:accent1>
        <a:srgbClr val="B8402E"/>
      </a:accent1>
      <a:accent2>
        <a:srgbClr val="E2B866"/>
      </a:accent2>
      <a:accent3>
        <a:srgbClr val="E6DDC8"/>
      </a:accent3>
      <a:accent4>
        <a:srgbClr val="D9D0BD"/>
      </a:accent4>
      <a:accent5>
        <a:srgbClr val="C9CFD6"/>
      </a:accent5>
      <a:accent6>
        <a:srgbClr val="2F6690"/>
      </a:accent6>
      <a:hlink>
        <a:srgbClr val="2F6690"/>
      </a:hlink>
      <a:folHlink>
        <a:srgbClr val="46505C"/>
      </a:folHlink>
    </a:clrScheme>
    <a:fontScheme name="Wind Courier Lecture">
      <a:majorFont>
        <a:latin typeface="Batang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2955</Words>
  <Application>Microsoft Office PowerPoint</Application>
  <PresentationFormat>와이드스크린</PresentationFormat>
  <Paragraphs>448</Paragraphs>
  <Slides>33</Slides>
  <Notes>33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HeadingPairs>
  <TitlesOfParts>
    <vt:vector size="36" baseType="lpstr">
      <vt:lpstr>Batang</vt:lpstr>
      <vt:lpstr>Arial</vt:lpstr>
      <vt:lpstr>Wind Courier Lecture</vt:lpstr>
      <vt:lpstr>1인 개발자의 AI 활용</vt:lpstr>
      <vt:lpstr>여섯 구간</vt:lpstr>
      <vt:lpstr>지금의 Wind Courier</vt:lpstr>
      <vt:lpstr>AI가 한 것, 내가 한 것</vt:lpstr>
      <vt:lpstr>오늘 반복할 세 가지 원칙</vt:lpstr>
      <vt:lpstr>아이디어를 늘리지 않는다. 혼자 끝낼 수 있는 크기로 자른다.</vt:lpstr>
      <vt:lpstr>감정을 행동으로 내린다</vt:lpstr>
      <vt:lpstr>범위를 줄인 기록</vt:lpstr>
      <vt:lpstr>수치가 좋아져도 버린 기능</vt:lpstr>
      <vt:lpstr>첫 프로토타입에 무엇을 넣을까</vt:lpstr>
      <vt:lpstr>AI의 가장 큰 쓸모는 코드 작성이 아니었다. 플레이 기록에서 원인을 찾는 일이었다.</vt:lpstr>
      <vt:lpstr>한 바퀴의 모양</vt:lpstr>
      <vt:lpstr>장거리 노선이 지루했다</vt:lpstr>
      <vt:lpstr>원인은 거리가 아니라 고도의 가격</vt:lpstr>
      <vt:lpstr>게임은 그대로, 화면만 고쳤다</vt:lpstr>
      <vt:lpstr>잠깐 뜨는 안내는 읽히지 않는다</vt:lpstr>
      <vt:lpstr>요청에는 완료 조건을 붙인다</vt:lpstr>
      <vt:lpstr>생성은 금방 끝난다. 고르고, 넣고, 다시 보는 일이 남는다.</vt:lpstr>
      <vt:lpstr>생성 뒤에 남는 일</vt:lpstr>
      <vt:lpstr>채택 기준은 "읽히는가"</vt:lpstr>
      <vt:lpstr>휴식 5분</vt:lpstr>
      <vt:lpstr>AI의 "끝났다"와 실제 완료 사이</vt:lpstr>
      <vt:lpstr>단계마다 끝내는 일이 다르다</vt:lpstr>
      <vt:lpstr>없는 것부터 적는다</vt:lpstr>
      <vt:lpstr>직접 돌려 봐야 보이는 것</vt:lpstr>
      <vt:lpstr>"성공"이라는 보고의 범위</vt:lpstr>
      <vt:lpstr>출시는 하루의 일이 아니다. 약속과 빌드를 맞춰 가는 몇 주다.</vt:lpstr>
      <vt:lpstr>여섯 단계와 기다리는 시간</vt:lpstr>
      <vt:lpstr>확인한 것만 적는다</vt:lpstr>
      <vt:lpstr>무엇에, 어떻게 썼는지 쓴다</vt:lpstr>
      <vt:lpstr>출시 뒤에도 같은 방식으로</vt:lpstr>
      <vt:lpstr>가져갈 네 가지 작업 방식</vt:lpstr>
      <vt:lpstr>첫 작업은 게임 전체를 요청하는 것이 아닙니다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1인 개발자의 AI 활용 — Wind Courier 강의 슬라이드</dc:title>
  <dc:subject>PptxGenJS Presentation</dc:subject>
  <dc:creator>ozs</dc:creator>
  <cp:lastModifiedBy>GOD</cp:lastModifiedBy>
  <cp:revision>9</cp:revision>
  <dcterms:created xsi:type="dcterms:W3CDTF">2026-10-04T00:41:04Z</dcterms:created>
  <dcterms:modified xsi:type="dcterms:W3CDTF">2026-10-13T06:47:32Z</dcterms:modified>
</cp:coreProperties>
</file>